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ost Grotesk" panose="020B0604020202020204" charset="0"/>
      <p:regular r:id="rId15"/>
    </p:embeddedFont>
    <p:embeddedFont>
      <p:font typeface="Host Grotesk Light" panose="020B0604020202020204" charset="0"/>
      <p:regular r:id="rId16"/>
    </p:embeddedFont>
    <p:embeddedFont>
      <p:font typeface="Host Grotesk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41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429000"/>
            <a:ext cx="7492813" cy="294640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90575" y="3769519"/>
            <a:ext cx="734041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130" dirty="0">
                <a:solidFill>
                  <a:srgbClr val="6A0A3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EDUANALYTICS · ANALYTICS CASE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90575" y="4106863"/>
            <a:ext cx="6730832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92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EduAnalytics:</a:t>
            </a:r>
            <a:endParaRPr lang="en-US" sz="4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92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Turning student signals into timely support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90575" y="6005989"/>
            <a:ext cx="734041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kern="100" spc="13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From raw xAPI records to an intervention-ready Power BI view</a:t>
            </a:r>
            <a:endParaRPr lang="en-US" sz="1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3899E-C13E-C182-2BDF-50E79C677212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Student outcomes are visible before they decline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022402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667244"/>
            <a:ext cx="525766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One analytical 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585" y="4132362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Bring engagement, attendance, and academic performance together.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022402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4442" y="3667244"/>
            <a:ext cx="525766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Earlier support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324442" y="4132362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Move from retrospective reporting to explainable intervention.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2997FE-1729-46CC-3A35-670908721EBD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This project demonstrates an end-to-end analytics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89579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180259"/>
            <a:ext cx="2514537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28769"/>
            <a:ext cx="25145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Prepare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741440"/>
            <a:ext cx="25145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Clean and prepare education data.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8914" y="289579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14" y="3180259"/>
            <a:ext cx="2514537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3328769"/>
            <a:ext cx="25145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Engineer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8914" y="3741440"/>
            <a:ext cx="25145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Build interpretable features.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244" y="289579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180259"/>
            <a:ext cx="2514537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328769"/>
            <a:ext cx="25145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Explore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8244" y="3741440"/>
            <a:ext cx="25145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Find relationships and patterns.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7573" y="289579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3180259"/>
            <a:ext cx="2514537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3328769"/>
            <a:ext cx="25145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Deliver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67573" y="3741440"/>
            <a:ext cx="251453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Build an interactive Power BI dashboard for decision support.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Python preparation → exploratory analysis → Power BI and DAX decision support</a:t>
            </a:r>
            <a:endParaRPr lang="en-US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0E428-B1DC-0B59-A7AE-2C972A64BF02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629904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The xAPI dataset connects classroom behavior to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852613"/>
            <a:ext cx="6298943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239963"/>
            <a:ext cx="6299042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600" kern="100" spc="-152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480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09585" y="3317716"/>
            <a:ext cx="670543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student records across 17 columns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3737570"/>
            <a:ext cx="629904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Signals include raised hands, visited resources, announcement views, discussion participation, absence days, subject, grade, semester, gender, and class.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4811653"/>
            <a:ext cx="670543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No missing values were found in the source data.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35F755-B189-771E-39B9-DBB90CC9177B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The workflow turns raw records into an intervention-ready 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4313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327598"/>
            <a:ext cx="1950592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476109"/>
            <a:ext cx="195069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Collect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888780"/>
            <a:ext cx="195069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Inspect the source data.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4969" y="304313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4969" y="3327598"/>
            <a:ext cx="1950592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3476109"/>
            <a:ext cx="195069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Prepare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64969" y="3888780"/>
            <a:ext cx="195069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Clean records and engineer features.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353" y="304313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353" y="3327598"/>
            <a:ext cx="1950889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353" y="3476109"/>
            <a:ext cx="19508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Explore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353" y="3888780"/>
            <a:ext cx="195088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Review distributions and relationships.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5936" y="304313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75936" y="3327598"/>
            <a:ext cx="1950592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3476109"/>
            <a:ext cx="195069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Export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75936" y="3888780"/>
            <a:ext cx="195069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Save the processed dataset.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31320" y="3043138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31320" y="3327598"/>
            <a:ext cx="1950691" cy="19050"/>
          </a:xfrm>
          <a:prstGeom prst="rect">
            <a:avLst/>
          </a:prstGeom>
          <a:solidFill>
            <a:srgbClr val="FFC928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320" y="3476109"/>
            <a:ext cx="195079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Interpret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31320" y="3888780"/>
            <a:ext cx="195079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Build and read the dashboard.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6031845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The output is designed for a decision: who needs follow-up, and why?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9D5098-C762-6645-58F0-6335A989F227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Four engineered features make the analysis explainable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029619"/>
            <a:ext cx="5333867" cy="15784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299811"/>
            <a:ext cx="477508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Engagement Score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8978" y="2764929"/>
            <a:ext cx="477508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Average of four participation signals, scaled 0–100.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244" y="2029619"/>
            <a:ext cx="5333867" cy="15784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27637" y="2299811"/>
            <a:ext cx="477508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Attendance Risk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27637" y="2764929"/>
            <a:ext cx="505447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1 when absence days are above seven.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912890"/>
            <a:ext cx="5333867" cy="15784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88978" y="4183082"/>
            <a:ext cx="477508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Performance Proxy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8978" y="4648200"/>
            <a:ext cx="505447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L = 50, M = 80, H = 95.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912890"/>
            <a:ext cx="5333867" cy="15784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27637" y="4183082"/>
            <a:ext cx="477508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Risk Status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27637" y="4648200"/>
            <a:ext cx="477508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Combines attendance, below-median engagement, and low or medium performance.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Project-defined assumptions make the rule inspectable, not ground truth.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348206-4679-1729-6C33-FEC9A3763906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629904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Power BI turns the analysis into three decision views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852613"/>
            <a:ext cx="6298943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286318"/>
            <a:ext cx="629904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Executive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2751435"/>
            <a:ext cx="629904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KPIs, subject performance, risk distribution, and filters.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367008"/>
            <a:ext cx="629904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Performance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585" y="3832126"/>
            <a:ext cx="629904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Engagement by gender, semester, grade, and subject.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4447699"/>
            <a:ext cx="629904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Student Risk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585" y="4912816"/>
            <a:ext cx="629904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At-risk cohorts, absence patterns, and a detailed follow-up table.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585" y="3192066"/>
            <a:ext cx="6299042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9585" y="4272756"/>
            <a:ext cx="6299042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1A85DA-B3B5-0B98-1306-47BE3435D452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148 of 480 students are flagged for follow-up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81597"/>
            <a:ext cx="6349841" cy="35576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368" y="1679575"/>
            <a:ext cx="3855743" cy="41618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031160" y="2172196"/>
            <a:ext cx="355095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13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EARLY-WARNING RULE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31160" y="2547641"/>
            <a:ext cx="3246158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600" kern="100" spc="-152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30.8%</a:t>
            </a:r>
            <a:endParaRPr lang="en-US" sz="7600" dirty="0"/>
          </a:p>
        </p:txBody>
      </p:sp>
      <p:sp>
        <p:nvSpPr>
          <p:cNvPr id="8" name="Text 5"/>
          <p:cNvSpPr/>
          <p:nvPr/>
        </p:nvSpPr>
        <p:spPr>
          <a:xfrm>
            <a:off x="8031160" y="3686175"/>
            <a:ext cx="324615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are classified as At Risk. The remaining 332 students are On Track.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31160" y="4696758"/>
            <a:ext cx="3246158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High absence + below-median engagement + low or medium performance.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The rule is transparent by design, so a reviewer can trace every flag.</a:t>
            </a:r>
            <a:endParaRPr lang="en-US" sz="1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1DF53-14FD-BA5C-7C4A-6E2202A5BA7F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Engagement generally rises with academic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20491"/>
            <a:ext cx="5384665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80" y="2833291"/>
            <a:ext cx="497827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100" spc="-18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Lower engagement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780" y="3229372"/>
            <a:ext cx="497827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More low or medium performance and more risk flags.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445" y="1715691"/>
            <a:ext cx="5384665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640" y="2528491"/>
            <a:ext cx="497827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100" spc="-18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Higher engagement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640" y="2924572"/>
            <a:ext cx="497827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More high performance and fewer risk flags.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09585" y="4205883"/>
            <a:ext cx="5333867" cy="18222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888978" y="4450675"/>
            <a:ext cx="477508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Measured pattern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88978" y="4915793"/>
            <a:ext cx="477508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The notebook's scatter analysis shows a positive relationship between Engagement Score and Performance Proxy.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27637" y="4450675"/>
            <a:ext cx="477508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Decision guardrail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27637" y="4915793"/>
            <a:ext cx="477508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Use engagement as an early signal, not a standalone verdict. Correlation supports prioritization, not causation.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D8EE6-FA9C-A9D6-5AA0-66A6BEDF96A6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7348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4" y="637706"/>
            <a:ext cx="6553036" cy="803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900" kern="100" spc="-29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Subject engagement varies enough to guide targeted action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029074" y="1647428"/>
            <a:ext cx="655303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074" y="1876623"/>
            <a:ext cx="6284458" cy="44830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3336" y="6250032"/>
            <a:ext cx="5284820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kern="100" spc="12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Biology leads performance at 84.0. IT is lowest at 70.4, while Math and IT show the lowest engagement profiles.</a:t>
            </a:r>
            <a:endParaRPr lang="en-US" sz="12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45221C-D208-FC2A-4E52-6E4EB54D19E0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50B57-4659-7443-CFF7-6374FDAB419E}"/>
              </a:ext>
            </a:extLst>
          </p:cNvPr>
          <p:cNvSpPr txBox="1"/>
          <p:nvPr/>
        </p:nvSpPr>
        <p:spPr>
          <a:xfrm>
            <a:off x="306836" y="936049"/>
            <a:ext cx="733251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1. Student risk identification</a:t>
            </a:r>
          </a:p>
          <a:p>
            <a:r>
              <a:rPr lang="en-IN" b="1" dirty="0">
                <a:solidFill>
                  <a:schemeClr val="bg1"/>
                </a:solidFill>
              </a:rPr>
              <a:t>~31%</a:t>
            </a:r>
          </a:p>
          <a:p>
            <a:r>
              <a:rPr lang="en-IN" dirty="0">
                <a:solidFill>
                  <a:schemeClr val="bg1"/>
                </a:solidFill>
              </a:rPr>
              <a:t>README reports that approximately 31% of students are classified as at risk. This indicates a need to examine attendance, engagement, and academic performance together.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2. Engagement and performance</a:t>
            </a:r>
          </a:p>
          <a:p>
            <a:r>
              <a:rPr lang="en-IN" dirty="0">
                <a:solidFill>
                  <a:schemeClr val="bg1"/>
                </a:solidFill>
              </a:rPr>
              <a:t>Students with higher engagement generally achieve better academic performance, according to  README. Engagement includes raised hands, visited resources, announcement views, and discussion participation.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3. Attendance risk</a:t>
            </a:r>
          </a:p>
          <a:p>
            <a:r>
              <a:rPr lang="en-IN" dirty="0">
                <a:solidFill>
                  <a:schemeClr val="bg1"/>
                </a:solidFill>
              </a:rPr>
              <a:t>project flags students with more than seven absence days as having attendance risk. This provides a practical starting point for identifying students who may need attendance support.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4. Differences across subjects and grades</a:t>
            </a:r>
          </a:p>
          <a:p>
            <a:r>
              <a:rPr lang="en-IN" dirty="0">
                <a:solidFill>
                  <a:schemeClr val="bg1"/>
                </a:solidFill>
              </a:rPr>
              <a:t>dashboard compares performance and engagement by subject, grade, and semester. These comparisons can help identify where additional teaching support may be useful, once the actual chart values are examined.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15A0E-56D3-3564-554F-2AE44A03C8A1}"/>
              </a:ext>
            </a:extLst>
          </p:cNvPr>
          <p:cNvSpPr txBox="1"/>
          <p:nvPr/>
        </p:nvSpPr>
        <p:spPr>
          <a:xfrm>
            <a:off x="4035543" y="166608"/>
            <a:ext cx="3603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5" name="Picture 4" descr="Chancen möglich machen | Teach For Austria">
            <a:extLst>
              <a:ext uri="{FF2B5EF4-FFF2-40B4-BE49-F238E27FC236}">
                <a16:creationId xmlns:a16="http://schemas.microsoft.com/office/drawing/2014/main" id="{2A710E3B-36CD-3F62-21BB-9C37DA1A2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55" y="1097414"/>
            <a:ext cx="4132451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A7197F-6C25-A529-1569-5AEAC0C47627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  <p:extLst>
      <p:ext uri="{BB962C8B-B14F-4D97-AF65-F5344CB8AC3E}">
        <p14:creationId xmlns:p14="http://schemas.microsoft.com/office/powerpoint/2010/main" val="607199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8B5242-6547-6A04-3DB5-9A5A24682D1C}"/>
              </a:ext>
            </a:extLst>
          </p:cNvPr>
          <p:cNvSpPr txBox="1"/>
          <p:nvPr/>
        </p:nvSpPr>
        <p:spPr>
          <a:xfrm>
            <a:off x="277702" y="1626687"/>
            <a:ext cx="73602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Recommendation 1: Introduce an early-warning system</a:t>
            </a:r>
          </a:p>
          <a:p>
            <a:r>
              <a:rPr lang="en-IN" dirty="0">
                <a:solidFill>
                  <a:schemeClr val="bg1"/>
                </a:solidFill>
              </a:rPr>
              <a:t>Identify students who have frequent absences, low engagement, and low academic performance. Contact them early and provide individual support.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Recommendation 2: Improve classroom engagement</a:t>
            </a:r>
          </a:p>
          <a:p>
            <a:r>
              <a:rPr lang="en-IN" dirty="0">
                <a:solidFill>
                  <a:schemeClr val="bg1"/>
                </a:solidFill>
              </a:rPr>
              <a:t>Introduce group discussions, quizzes, interactive lessons, and question-and-answer sessions in subjects where engagement is relatively low.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Recommendation 3: Provide targeted academic support</a:t>
            </a:r>
          </a:p>
          <a:p>
            <a:r>
              <a:rPr lang="en-IN" dirty="0">
                <a:solidFill>
                  <a:schemeClr val="bg1"/>
                </a:solidFill>
              </a:rPr>
              <a:t>Offer remedial classes, mentoring, practice exercises, and revision sessions to students with low or medium performance.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Recommendation 4: Monitor results regularly</a:t>
            </a:r>
          </a:p>
          <a:p>
            <a:r>
              <a:rPr lang="en-IN" dirty="0">
                <a:solidFill>
                  <a:schemeClr val="bg1"/>
                </a:solidFill>
              </a:rPr>
              <a:t>Review attendance, engagement, and performance every two to four weeks. Compare results before and after interventions to determine what is working.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 descr="What Is Remedial Teaching? Challenges &amp; Solutions">
            <a:extLst>
              <a:ext uri="{FF2B5EF4-FFF2-40B4-BE49-F238E27FC236}">
                <a16:creationId xmlns:a16="http://schemas.microsoft.com/office/drawing/2014/main" id="{A784DF15-49E5-EE4C-DB26-BAFB4A09D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18" r="19063"/>
          <a:stretch>
            <a:fillRect/>
          </a:stretch>
        </p:blipFill>
        <p:spPr>
          <a:xfrm>
            <a:off x="7637929" y="443753"/>
            <a:ext cx="4276369" cy="58091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60FC2A-07F9-FB2D-8AC8-AF9B7FE7A78C}"/>
              </a:ext>
            </a:extLst>
          </p:cNvPr>
          <p:cNvSpPr txBox="1"/>
          <p:nvPr/>
        </p:nvSpPr>
        <p:spPr>
          <a:xfrm>
            <a:off x="652368" y="458415"/>
            <a:ext cx="6230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BUSINESS RECOMMENDATIONS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2D5FA7-C7D7-709C-79A1-355233D31842}"/>
              </a:ext>
            </a:extLst>
          </p:cNvPr>
          <p:cNvSpPr/>
          <p:nvPr/>
        </p:nvSpPr>
        <p:spPr>
          <a:xfrm>
            <a:off x="10538010" y="6490998"/>
            <a:ext cx="1653990" cy="3405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POOJITHA KOTHAKONDA</a:t>
            </a:r>
          </a:p>
        </p:txBody>
      </p:sp>
    </p:spTree>
    <p:extLst>
      <p:ext uri="{BB962C8B-B14F-4D97-AF65-F5344CB8AC3E}">
        <p14:creationId xmlns:p14="http://schemas.microsoft.com/office/powerpoint/2010/main" val="112789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780</Words>
  <Application>Microsoft Office PowerPoint</Application>
  <PresentationFormat>Widescreen</PresentationFormat>
  <Paragraphs>126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Host Grotesk Medium</vt:lpstr>
      <vt:lpstr>Arial</vt:lpstr>
      <vt:lpstr>Host Grotesk</vt:lpstr>
      <vt:lpstr>Host Grotesk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poojitha kothakonda</dc:creator>
  <cp:lastModifiedBy>poojitha kothakonda</cp:lastModifiedBy>
  <cp:revision>3</cp:revision>
  <dcterms:created xsi:type="dcterms:W3CDTF">2026-10-23T15:20:07Z</dcterms:created>
  <dcterms:modified xsi:type="dcterms:W3CDTF">2026-10-23T15:35:22Z</dcterms:modified>
</cp:coreProperties>
</file>